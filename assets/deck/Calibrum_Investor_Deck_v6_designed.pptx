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pic>
        <p:nvPicPr>
          <p:cNvPr id="3" name="Image 1" descr="calibrum_mark_dark_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75488"/>
            <a:ext cx="74980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17320" y="621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</a:t>
            </a:r>
            <a:endParaRPr lang="en-US" sz="1700" dirty="0"/>
          </a:p>
        </p:txBody>
      </p:sp>
      <p:sp>
        <p:nvSpPr>
          <p:cNvPr id="5" name="Text 1"/>
          <p:cNvSpPr txBox="1"/>
          <p:nvPr/>
        </p:nvSpPr>
        <p:spPr>
          <a:xfrm>
            <a:off x="1417320" y="9326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衡准 — The financial standard for machines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658368" y="1554480"/>
            <a:ext cx="9601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billion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borrowers may not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human.</a:t>
            </a:r>
            <a:endParaRPr lang="en-US" sz="52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617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the credit infrastructure that makes autonomous machines insurable, financeable and investable.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衡准 — MAKING MACHINES BANKABLE</a:t>
            </a:r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Investor deck •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THE FRICTION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can work. Machines still cannot borrow.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is shifting from hardware sales to fleets and Robots-as-a-Service — and every party in the chain is stuck.</a:t>
            </a:r>
            <a:endParaRPr lang="en-US" sz="1250" dirty="0"/>
          </a:p>
        </p:txBody>
      </p:sp>
      <p:pic>
        <p:nvPicPr>
          <p:cNvPr id="6" name="Image 1" descr="ill_idle_a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4983480" cy="3822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532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$200,000 machine, idle. The repair is unfinanced, the replacement unaffordable, the risk unpriced.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760720" y="1783080"/>
            <a:ext cx="5879592" cy="841248"/>
          </a:xfrm>
          <a:prstGeom prst="roundRect">
            <a:avLst>
              <a:gd name="adj" fmla="val 9783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pic>
        <p:nvPicPr>
          <p:cNvPr id="9" name="Image 2" descr="icons/factor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0116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9400" y="1892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OEM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6629400" y="216712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to finance its own deployments — equity capital funds what should be debt.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760720" y="2752344"/>
            <a:ext cx="5879592" cy="841248"/>
          </a:xfrm>
          <a:prstGeom prst="roundRect">
            <a:avLst>
              <a:gd name="adj" fmla="val 9783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pic>
        <p:nvPicPr>
          <p:cNvPr id="13" name="Image 3" descr="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2980944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29400" y="2862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6629400" y="31363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OpEx, not CapEx. Fears downtime and repair bills with no safety net.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760720" y="3721608"/>
            <a:ext cx="5879592" cy="841248"/>
          </a:xfrm>
          <a:prstGeom prst="roundRect">
            <a:avLst>
              <a:gd name="adj" fmla="val 9783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pic>
        <p:nvPicPr>
          <p:cNvPr id="17" name="Image 4" descr="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39502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3831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</a:t>
            </a:r>
            <a:endParaRPr lang="en-US" sz="1150" dirty="0"/>
          </a:p>
        </p:txBody>
      </p:sp>
      <p:sp>
        <p:nvSpPr>
          <p:cNvPr id="19" name="Text 12"/>
          <p:cNvSpPr txBox="1"/>
          <p:nvPr/>
        </p:nvSpPr>
        <p:spPr>
          <a:xfrm>
            <a:off x="6629400" y="410565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price the risk: no loss history, no cross-OEM data, no shared standard.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760720" y="4690872"/>
            <a:ext cx="5879592" cy="841248"/>
          </a:xfrm>
          <a:prstGeom prst="roundRect">
            <a:avLst>
              <a:gd name="adj" fmla="val 9783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pic>
        <p:nvPicPr>
          <p:cNvPr id="21" name="Image 5" descr="icons/ban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4919472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62940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</a:t>
            </a:r>
            <a:endParaRPr lang="en-US" sz="1150" dirty="0"/>
          </a:p>
        </p:txBody>
      </p:sp>
      <p:sp>
        <p:nvSpPr>
          <p:cNvPr id="23" name="Text 15"/>
          <p:cNvSpPr txBox="1"/>
          <p:nvPr/>
        </p:nvSpPr>
        <p:spPr>
          <a:xfrm>
            <a:off x="6629400" y="5074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value the collateral: no residual curve, no verified usage record.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548640" y="5989320"/>
            <a:ext cx="11091672" cy="475488"/>
          </a:xfrm>
          <a:prstGeom prst="roundRect">
            <a:avLst>
              <a:gd name="adj" fmla="val 17308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868680" y="608990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risk cannot be priced, robots consume equity instead of attracting debt — deployment is throttled by balance sheets, not demand.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2</a:t>
            </a:r>
            <a:endParaRPr lang="en-US" sz="850" dirty="0"/>
          </a:p>
        </p:txBody>
      </p:sp>
      <p:sp>
        <p:nvSpPr>
          <p:cNvPr id="27" name="Text 19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WHY NOW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economy is crossing from CapEx into finance.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base, service robotics and RaaS are scaling at exactly the moment underwriting data starts to exist.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266090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4.66M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robots in operational stock (2024)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10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92424" y="1691640"/>
            <a:ext cx="266090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21024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542K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3621024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robots installed in a single year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621024" y="3310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36208" y="1691640"/>
            <a:ext cx="266090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4808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6464808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growth of Robots-as-a-Service fleets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464808" y="3310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079992" y="1691640"/>
            <a:ext cx="2660904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08592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$5T</a:t>
            </a:r>
            <a:endParaRPr lang="en-US" sz="3400" dirty="0"/>
          </a:p>
        </p:txBody>
      </p:sp>
      <p:sp>
        <p:nvSpPr>
          <p:cNvPr id="23" name="Text 20"/>
          <p:cNvSpPr txBox="1"/>
          <p:nvPr/>
        </p:nvSpPr>
        <p:spPr>
          <a:xfrm>
            <a:off x="9308592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 ecosystem estimate by 2050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9308592" y="3310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4343400"/>
            <a:ext cx="211226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4944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HARDWARE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633472" y="46451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843784" y="4343400"/>
            <a:ext cx="211226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90088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UPTIME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2990088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928616" y="46451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138928" y="4343400"/>
            <a:ext cx="2112264" cy="1051560"/>
          </a:xfrm>
          <a:prstGeom prst="roundRect">
            <a:avLst>
              <a:gd name="adj" fmla="val 6087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285232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RISK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285232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223760" y="46451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34072" y="4343400"/>
            <a:ext cx="2112264" cy="1051560"/>
          </a:xfrm>
          <a:prstGeom prst="roundRect">
            <a:avLst>
              <a:gd name="adj" fmla="val 6087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580376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CAPITAL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580376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9518904" y="46451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729216" y="4343400"/>
            <a:ext cx="2112264" cy="1051560"/>
          </a:xfrm>
          <a:prstGeom prst="roundRect">
            <a:avLst>
              <a:gd name="adj" fmla="val 6087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8755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RISK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87552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has monetized hardware and uptime. The next three stages all require one missing primitive: a shared way to price machine risk.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3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PROOF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insurers moved first — and hit a wall.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Embodied-AI insurance is already being sold at scale in China. The product exists; the pricing infrastructure does not.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13232" y="18928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057400"/>
            <a:ext cx="0" cy="786384"/>
          </a:xfrm>
          <a:prstGeom prst="line">
            <a:avLst/>
          </a:prstGeom>
          <a:noFill/>
          <a:ln w="19050">
            <a:solidFill>
              <a:srgbClr val="DDE4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1755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embodied-AI insurance agreement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207568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PICC signs with the Hangzhou national embodied-AI pilot base.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3232" y="286207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3026664"/>
            <a:ext cx="0" cy="786384"/>
          </a:xfrm>
          <a:prstGeom prst="line">
            <a:avLst/>
          </a:prstGeom>
          <a:noFill/>
          <a:ln w="19050">
            <a:solidFill>
              <a:srgbClr val="DDE4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1560" y="27523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2724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"insurance + leasing" policy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2194560" y="304495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An folds premium into robot rents with Shanghai Electric Leasing; AI-driven dynamic pricing.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13232" y="383133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3995928"/>
            <a:ext cx="0" cy="786384"/>
          </a:xfrm>
          <a:prstGeom prst="line">
            <a:avLst/>
          </a:prstGeom>
          <a:noFill/>
          <a:ln w="19050">
            <a:solidFill>
              <a:srgbClr val="DDE4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37216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194560" y="36941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humanoid insurance claim paid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01421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tips over; PICC settles the claim off the OEM repair quote.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3232" y="480060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1560" y="4690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2194560" y="4663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Fleets insured, rental market ~$1.4B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2194560" y="49834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PICC covers a 470-unit humanoid rental fleet; platforms now require insurance per robot.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03720" y="1783080"/>
            <a:ext cx="4736592" cy="3931920"/>
          </a:xfrm>
          <a:prstGeom prst="roundRect">
            <a:avLst>
              <a:gd name="adj" fmla="val 1628"/>
            </a:avLst>
          </a:prstGeom>
          <a:solidFill>
            <a:srgbClr val="0A1428"/>
          </a:solidFill>
          <a:ln w="9525">
            <a:solidFill>
              <a:srgbClr val="0A1428"/>
            </a:solidFill>
            <a:prstDash val="solid"/>
          </a:ln>
        </p:spPr>
      </p:sp>
      <p:pic>
        <p:nvPicPr>
          <p:cNvPr id="29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14884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269480" y="2788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incumbents say is stopping them: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7269480" y="32004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barriers</a:t>
            </a:r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telemetry sits inside OEMs, operators and rental platforms that do not trust each other.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7269480" y="40233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cross-OEM loss history; each insurer builds a private, siloed data channel per platform.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269480" y="5029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publicly by PICC / industry press, 2026.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Insurers are not our competitors. They are our first customers.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4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THESIS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Distance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984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trusted intermediaries between a machine event and a capital decision. Every node can edit the data, has its own interests, and adds cost.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DISTANCE ≈ 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23957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5054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85416" y="23957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85416" y="25054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CLOUD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648456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822192" y="23957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22192" y="25054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285232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58968" y="23957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58968" y="25054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922008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95744" y="23957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95744" y="25054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558784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732520" y="23957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32520" y="25054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REINSURER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195560" y="24688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369296" y="23957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369296" y="25054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29443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hop: reformatted data, private interests, no independent verification. Unverifiable risk is expensive risk.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MACHINE CREDIT — DISTANCE ≈ 0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3858768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0341F"/>
          </a:solidFill>
          <a:ln w="12700">
            <a:solidFill>
              <a:srgbClr val="1E5A3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9867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FE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MACHINE-SIGNED PROOF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041648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434840" y="3858768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0341F"/>
          </a:solidFill>
          <a:ln w="12700">
            <a:solidFill>
              <a:srgbClr val="1E5A3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34840" y="39867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FE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927848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321040" y="3858768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0341F"/>
          </a:solidFill>
          <a:ln w="12700">
            <a:solidFill>
              <a:srgbClr val="1E5A3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21040" y="39867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FE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DECISION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4622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counterparty verifies the evidence itself — no one has to be believed.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24365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verification cost</a:t>
            </a:r>
            <a:pPr indent="0" marL="0">
              <a:buNone/>
            </a:pPr>
            <a:r>
              <a:rPr lang="en-US" sz="155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underwriting distance</a:t>
            </a:r>
            <a:pPr indent="0" marL="0">
              <a:buNone/>
            </a:pPr>
            <a:r>
              <a:rPr lang="en-US" sz="155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uncertainty</a:t>
            </a:r>
            <a:pPr indent="0" marL="0">
              <a:buNone/>
            </a:pPr>
            <a:r>
              <a:rPr lang="en-US" sz="155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550" b="1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 of machine capital</a:t>
            </a:r>
            <a:endParaRPr lang="en-US" sz="15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entire company in one line of economics.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THE GAP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economy is getting wallets before it gets credit.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reputation and payment rails for machines are being built right now — by others. The credit layer is not.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13232" y="18928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057400"/>
            <a:ext cx="0" cy="758952"/>
          </a:xfrm>
          <a:prstGeom prst="line">
            <a:avLst/>
          </a:prstGeom>
          <a:noFill/>
          <a:ln w="19050">
            <a:solidFill>
              <a:srgbClr val="DDE4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"Trustless Agents"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0574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reputation and validation registries for agents go live on Ethereum mainnet; 170K+ registrations across chains.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3232" y="28529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3017520"/>
            <a:ext cx="0" cy="758952"/>
          </a:xfrm>
          <a:prstGeom prst="line">
            <a:avLst/>
          </a:prstGeom>
          <a:noFill/>
          <a:ln w="19050">
            <a:solidFill>
              <a:srgbClr val="DDE4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156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2025–26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148840" y="2715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machine payments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30175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 revives HTTP 402: agents settle API calls in stablecoins — no account, no human approval; handed to neutral governance.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" y="381304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5156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3675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networks move in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2148840" y="39776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Trusted Agent Protocol, Mastercard Agent Pay for machines, Stripe Tempo Machine Payments Protocol — all with stablecoin paths.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12280" y="1783080"/>
            <a:ext cx="4828032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8660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2029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identity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2432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2450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reputation registries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498080" y="2871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payments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credit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708660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0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insurance standard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70866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498080" y="4133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capital markets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812280" y="4800600"/>
            <a:ext cx="4828032" cy="1097280"/>
          </a:xfrm>
          <a:prstGeom prst="roundRect">
            <a:avLst>
              <a:gd name="adj" fmla="val 5833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08660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agents need wallets.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agents need balance sheets.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Operation → Reputation → Credit → Capital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6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ASSET SCOPE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"Machine" is a sequence, not a category.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enter an asset class only when four tests pass — and the data hook decides the order.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2660904" cy="42062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7190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HOOK EXISTS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92424" y="1627632"/>
            <a:ext cx="2660904" cy="42062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92424" y="17190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LOSSES MEASURABLE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1627632"/>
            <a:ext cx="2660904" cy="42062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36208" y="17190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FRICTION NOW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79992" y="1627632"/>
            <a:ext cx="2660904" cy="42062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79992" y="17190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OWNERSHIP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240280"/>
            <a:ext cx="3602736" cy="3246120"/>
          </a:xfrm>
          <a:prstGeom prst="roundRect">
            <a:avLst>
              <a:gd name="adj" fmla="val 1972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— NOW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clusters &amp; neoclouds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86384" y="301752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Collateralized lending exists today; utilization and rental data flow through cloud APIs we can sign.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3639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AMRs &amp; RaaS fleets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39136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software is the hook; China rental platforms already mandate insurance per robot.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4535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drones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4809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logs are regulated artifacts; loss frequency is measurable now.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34256" y="2240280"/>
            <a:ext cx="3602736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— 12–24 MO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 rental fleets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01752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ownership, insured today, loss data accruing fast.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3639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logistics robots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0" y="39136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incident exposure makes underwriting demand obvious.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0" y="4535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3D-printing farms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0" y="4809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Per-job logs are a natural Proof of Operation unit.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119872" y="2240280"/>
            <a:ext cx="3602736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57616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 — LATER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357616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eVTOL &amp; autonomous vehicles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8357616" y="301752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liability pools; enter as certification regimes settle.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8357616" y="3639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Consumer-adjacent machines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8357616" y="39136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robots, printer co-ops — as fleets professionalize.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8357616" y="4535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machine classes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8357616" y="48097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four tests, same rating engine, new asset class.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48640" y="571500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0A1428"/>
          </a:solidFill>
          <a:ln w="9525">
            <a:solidFill>
              <a:srgbClr val="0A142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8680" y="5870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 rule: enter only where telemetry already flows through a platform that can sign — cloud APIs, fleet software, rental platforms. Never beg OEMs machine-by-machine.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7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PRODUCT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Calibrum Passport.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persistent, portable record of identity, verified work, incidents and financial behavior — across owners, insurers and borders.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0A1428"/>
          </a:solidFill>
          <a:ln w="9525">
            <a:solidFill>
              <a:srgbClr val="0A14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PASSPORT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#A7-2049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743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AMR • Ohio, US • VERIFIED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Risk Score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88620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782 / 1000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3584448"/>
            <a:ext cx="4480560" cy="0"/>
          </a:xfrm>
          <a:prstGeom prst="line">
            <a:avLst/>
          </a:prstGeom>
          <a:noFill/>
          <a:ln w="9525">
            <a:solidFill>
              <a:srgbClr val="2436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operating hours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7,431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4087368"/>
            <a:ext cx="4480560" cy="0"/>
          </a:xfrm>
          <a:prstGeom prst="line">
            <a:avLst/>
          </a:prstGeom>
          <a:noFill/>
          <a:ln w="9525">
            <a:solidFill>
              <a:srgbClr val="2436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annual loss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88620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 bps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68680" y="4590288"/>
            <a:ext cx="4480560" cy="0"/>
          </a:xfrm>
          <a:prstGeom prst="line">
            <a:avLst/>
          </a:prstGeom>
          <a:noFill/>
          <a:ln w="9525">
            <a:solidFill>
              <a:srgbClr val="2436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709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LTV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88620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8680" y="5093208"/>
            <a:ext cx="4480560" cy="0"/>
          </a:xfrm>
          <a:prstGeom prst="line">
            <a:avLst/>
          </a:prstGeom>
          <a:noFill/>
          <a:ln w="9525">
            <a:solidFill>
              <a:srgbClr val="2436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value (5,000 hrs)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3886200" y="5212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989320" y="1783080"/>
            <a:ext cx="56509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8" name="Image 1" descr="icons/badg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39112"/>
            <a:ext cx="402336" cy="40233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903720" y="1911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903720" y="222199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identity, bound to hardware at manufacture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989320" y="2843784"/>
            <a:ext cx="56509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32" name="Image 2" descr="icons/doc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99816"/>
            <a:ext cx="402336" cy="40233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903720" y="2971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Carfax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903720" y="328269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 history: usage, maintenance, incidents, claims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989320" y="3904488"/>
            <a:ext cx="56509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36" name="Image 3" descr="icons/gaug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60520"/>
            <a:ext cx="402336" cy="40233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90372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6903720" y="43434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dynamic score that every counterparty prices against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989320" y="4965192"/>
            <a:ext cx="56509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40" name="Image 4" descr="icons/wallet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221224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6903720" y="5093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6903720" y="540410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settlement endpoint for premiums, rents and repayments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5989320" y="6053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passport follows the machine — not the OEM, not the insurer, not the country.</a:t>
            </a:r>
            <a:endParaRPr lang="en-US" sz="1150" dirty="0"/>
          </a:p>
        </p:txBody>
      </p:sp>
      <p:sp>
        <p:nvSpPr>
          <p:cNvPr id="44" name="Text 37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8</a:t>
            </a:r>
            <a:endParaRPr lang="en-US" sz="850" dirty="0"/>
          </a:p>
        </p:txBody>
      </p:sp>
      <p:sp>
        <p:nvSpPr>
          <p:cNvPr id="45" name="Text 38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WHY A CHAIN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party should own the machine's history.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telemetry stays encrypted off-chain. The chain holds identity, proofs and state transitions that six parties must all trust.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8562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32304" y="1737360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32304" y="18562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15968" y="1737360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15968" y="18562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9632" y="1737360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9632" y="18562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83296" y="1737360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83296" y="18562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960" y="1737360"/>
            <a:ext cx="1700784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66960" y="18562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4871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read and write the same machine history. Today each keeps a private, incompatible copy — and any of them can quietly rewrite theirs.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108960"/>
            <a:ext cx="266090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3" name="Image 1" descr="icons/glob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346704"/>
            <a:ext cx="420624" cy="42062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04672" y="3895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04672" y="420624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survives changes of owner, insurer, lender and jurisdiction. Credit is an asset attached to the machine.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392424" y="3108960"/>
            <a:ext cx="266090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7" name="Image 2" descr="icons/lo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3346704"/>
            <a:ext cx="420624" cy="42062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648456" y="3895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3648456" y="420624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and claims records cannot be quietly edited after the fact — by the OEM, the operator or the insurer.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236208" y="3108960"/>
            <a:ext cx="266090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31" name="Image 3" descr="icons/layers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346704"/>
            <a:ext cx="420624" cy="42062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492240" y="3895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492240" y="420624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Insurance, credit and leasing all price off one shared state instead of six siloed data channels.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079992" y="3108960"/>
            <a:ext cx="266090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35" name="Image 4" descr="icons/zap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3346704"/>
            <a:ext cx="420624" cy="42062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336024" y="3895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336024" y="420624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downtime or loss events trigger stablecoin payouts, covenants and repayments — T+0, cross-border.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falsification test: remove the chain and you rebuild today's broken state — bilateral "data stays in our domain" silos per insurer, per platform, per country.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9</a:t>
            </a:r>
            <a:endParaRPr lang="en-US" sz="850" dirty="0"/>
          </a:p>
        </p:txBody>
      </p:sp>
      <p:sp>
        <p:nvSpPr>
          <p:cNvPr id="41" name="Text 34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TECHNICAL MOAT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verified telemetry to a live capital price.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static classifier — a continuously updated survival, loss and residual-value model over cross-OEM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32004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SIGNALS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331720"/>
            <a:ext cx="2697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operating hours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difficulty + environment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+ incident history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compliance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/ model version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frequency + severity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+ battery wear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9476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06240" y="1783080"/>
            <a:ext cx="3749040" cy="4023360"/>
          </a:xfrm>
          <a:prstGeom prst="roundRect">
            <a:avLst>
              <a:gd name="adj" fmla="val 1707"/>
            </a:avLst>
          </a:prstGeom>
          <a:solidFill>
            <a:srgbClr val="0A1428"/>
          </a:solidFill>
          <a:ln w="9525">
            <a:solidFill>
              <a:srgbClr val="0A1428"/>
            </a:solidFill>
            <a:prstDash val="solid"/>
          </a:ln>
        </p:spPr>
      </p:sp>
      <p:pic>
        <p:nvPicPr>
          <p:cNvPr id="14" name="Image 1" descr="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57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628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RISK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analysis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when does it fail?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3995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model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what conditions drive risk?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26280" y="4562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+ residual value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how costly? what recovery?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51297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online learning</a:t>
            </a:r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updates every operating hour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028432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8439912" y="1783080"/>
            <a:ext cx="32004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714232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OUTPUTS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714232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probability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10561320" y="235915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714232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loss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10561320" y="29077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 bps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714232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1056132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714232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10561320" y="40050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714232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spread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10561320" y="4553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+410 bps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714232" y="5120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value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10561320" y="510235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compounds: telemetry linked to claims, repayments and resale outcomes — supervised labels no OEM or insurer holds alone.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10</a:t>
            </a:r>
            <a:endParaRPr lang="en-US" sz="850" dirty="0"/>
          </a:p>
        </p:txBody>
      </p:sp>
      <p:sp>
        <p:nvSpPr>
          <p:cNvPr id="37" name="Text 33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OWN THE STANDARD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are built on standard units. Machines have none.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define the unit and the score the whole chain prices against.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CAPITAL MARKET STARTED WITH A UNIT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Barrel of oil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markets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MWh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markets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511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 point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24612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credit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078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GPU-hour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4612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futures (CME, Oct 2026)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709160"/>
            <a:ext cx="4846320" cy="0"/>
          </a:xfrm>
          <a:prstGeom prst="line">
            <a:avLst/>
          </a:prstGeom>
          <a:noFill/>
          <a:ln w="12700">
            <a:solidFill>
              <a:srgbClr val="DDE4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VMOH — Verified Machine Operating Hour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hardware-attested hour of machine work: task, environment, utilization, energy, interventions, failures.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1783080"/>
            <a:ext cx="5376672" cy="4114800"/>
          </a:xfrm>
          <a:prstGeom prst="roundRect">
            <a:avLst>
              <a:gd name="adj" fmla="val 1556"/>
            </a:avLst>
          </a:prstGeom>
          <a:solidFill>
            <a:srgbClr val="0A1428"/>
          </a:solidFill>
          <a:ln w="9525">
            <a:solidFill>
              <a:srgbClr val="0A142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</a:t>
            </a:r>
            <a:endParaRPr lang="en-US" sz="54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Machine Risk Score  •  0–1000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3749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that answers what every counterparty is asking: how risky is this machine, and what should its capital cost?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709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MRS becomes the shared risk language, every insurer, lender and fleet operator becomes a distribution channel.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035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one score, not a family of trademarked indices. Reference curves (loss, residual value, credit spread) ship as the dataset matures.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11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WHY EVERYONE PLAYS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party gets a priced reason to join.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data-charity network: each party contributes data because data lowers its own cost of capital.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0" name="Image 1" descr="icons/factory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2996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0756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OEM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18928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telemetry, BOM, firmware lineage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949440" y="18928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 </a:t>
            </a:r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Fleets sell with financing attached — win deals its balance sheet could never fund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16352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5" name="Image 2" descr="icons/cycl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6324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/ RaaS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3246120" y="2926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Usage, maintenance, incident records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949440" y="2926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 </a:t>
            </a:r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premiums and lease rates for verified good behavior — priced, not promised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49624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0" name="Image 3" descr="icons/shield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965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4142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 / MGA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3246120" y="39593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outcomes and loss data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949440" y="395935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 </a:t>
            </a:r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premium pool it can finally price; underwriting data feed via one API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82896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5" name="Image 4" descr="icons/bank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129784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1755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/ LESSOR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3246120" y="499262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 and default outcomes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6949440" y="49926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 </a:t>
            </a:r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LTV, haircuts and covenants on a new asset class — with live collateral monitoring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68680" y="60624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 in one line: more machines → more verified outcomes → better pricing → cheaper insurance and capital → more machines deployed.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12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GO-TO-MARKET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one vertical, then become the cross-OEM standard.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where telemetry is available, losses are measurable and financing friction is obvious. China rental fleets and US specialty MGAs run in parallel.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60904" cy="3566160"/>
          </a:xfrm>
          <a:prstGeom prst="roundRect">
            <a:avLst>
              <a:gd name="adj" fmla="val 3093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67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880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robot OEMs / platforms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33558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insurer or MGA design partner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38313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 verified machine-hours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8096" y="4553712"/>
            <a:ext cx="2221992" cy="457200"/>
          </a:xfrm>
          <a:prstGeom prst="roundRect">
            <a:avLst>
              <a:gd name="adj" fmla="val 20000"/>
            </a:avLst>
          </a:prstGeom>
          <a:solidFill>
            <a:srgbClr val="0A14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465429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+ MRS v0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3383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92424" y="1783080"/>
            <a:ext cx="2660904" cy="3566160"/>
          </a:xfrm>
          <a:prstGeom prst="roundRect">
            <a:avLst>
              <a:gd name="adj" fmla="val 3093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118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6–18 MO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2267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2880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50K+ machines under score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3611880" y="33558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Claims-linked telemetry loop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611880" y="38313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premium settlement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11880" y="4553712"/>
            <a:ext cx="2221992" cy="457200"/>
          </a:xfrm>
          <a:prstGeom prst="roundRect">
            <a:avLst>
              <a:gd name="adj" fmla="val 20000"/>
            </a:avLst>
          </a:prstGeom>
          <a:solidFill>
            <a:srgbClr val="0A14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11880" y="465429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data API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044184" y="3383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36208" y="1783080"/>
            <a:ext cx="2660904" cy="3566160"/>
          </a:xfrm>
          <a:prstGeom prst="roundRect">
            <a:avLst>
              <a:gd name="adj" fmla="val 3093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55664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18–30 MO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455664" y="2267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6455664" y="2880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/ lessor APIs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455664" y="33558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Residual-value curves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455664" y="38313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rated credit facilities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55664" y="4553712"/>
            <a:ext cx="2221992" cy="457200"/>
          </a:xfrm>
          <a:prstGeom prst="roundRect">
            <a:avLst>
              <a:gd name="adj" fmla="val 20000"/>
            </a:avLst>
          </a:prstGeom>
          <a:solidFill>
            <a:srgbClr val="0A14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55664" y="465429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+ covenant engine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887968" y="3383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079992" y="1783080"/>
            <a:ext cx="2660904" cy="3566160"/>
          </a:xfrm>
          <a:prstGeom prst="roundRect">
            <a:avLst>
              <a:gd name="adj" fmla="val 3093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99448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MO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299448" y="2267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2100" dirty="0"/>
          </a:p>
        </p:txBody>
      </p:sp>
      <p:sp>
        <p:nvSpPr>
          <p:cNvPr id="36" name="Text 33"/>
          <p:cNvSpPr txBox="1"/>
          <p:nvPr/>
        </p:nvSpPr>
        <p:spPr>
          <a:xfrm>
            <a:off x="9299448" y="2880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SPVs and rated pools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9299448" y="33558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/ ABS / risk transfer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9299448" y="383133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licensing revenue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9299448" y="4553712"/>
            <a:ext cx="2221992" cy="457200"/>
          </a:xfrm>
          <a:prstGeom prst="roundRect">
            <a:avLst>
              <a:gd name="adj" fmla="val 20000"/>
            </a:avLst>
          </a:prstGeom>
          <a:solidFill>
            <a:srgbClr val="0A1428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299448" y="465429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capital markets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868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initial verticals: warehouse AMRs • GPU clusters • commercial drones • RaaS fleets with structured maintenance logs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13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LANDSCAPE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whitespace is the shared standard, not another silo.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 owns one silo: identity, insurance workflow, or financing. Nobody owns the cross-party score.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371600" y="3886200"/>
            <a:ext cx="8778240" cy="0"/>
          </a:xfrm>
          <a:prstGeom prst="line">
            <a:avLst/>
          </a:prstGeom>
          <a:noFill/>
          <a:ln w="19050">
            <a:solidFill>
              <a:srgbClr val="DDE4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965960"/>
            <a:ext cx="0" cy="3840480"/>
          </a:xfrm>
          <a:prstGeom prst="line">
            <a:avLst/>
          </a:prstGeom>
          <a:noFill/>
          <a:ln w="19050">
            <a:solidFill>
              <a:srgbClr val="DDE4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/ DATA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MARKETS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673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PORTABLE STANDARD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5861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/ PROPRIETARY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011680" y="237744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11680" y="2432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IoTeX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08960" y="283464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8960" y="28895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peaq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0" y="489204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43200" y="49469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Valgo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94960" y="45720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94960" y="46268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PolySea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675120" y="50292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75120" y="50840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Zunya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35040" y="429768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35040" y="43525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52578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46320" y="5312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PICC / Ping An*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452360" y="2286000"/>
            <a:ext cx="2377440" cy="54864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52360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378440" y="1965960"/>
            <a:ext cx="1417320" cy="384048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515600" y="2194560"/>
            <a:ext cx="11704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Incumbent insurers are customers, not competitors — they buy the score and the data feed.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137160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from public materials, accessed Sep 2026.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14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— BUSINESS MODEL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telemetry stream, five monetization layers.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Software-margin revenue first; transaction economics scale with machine asset value under management.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084832" cy="30175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0" name="Image 1" descr="icons/db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574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DATA API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$50–200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68096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machine / year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382219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SaaS to OEMs, insurers, lenders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816352" y="1828800"/>
            <a:ext cx="2084832" cy="30175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6" name="Image 2" descr="icons/shield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20574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35808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3035808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5–15%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035808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premium routed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3035808" y="382219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/ MGA economics, no balance-sheet risk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084064" y="1828800"/>
            <a:ext cx="2084832" cy="30175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2" name="Image 3" descr="icons/ban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0574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30352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30352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0.5–2%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530352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origination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5303520" y="382219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servicing on machine-backed facilities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351776" y="1828800"/>
            <a:ext cx="2084832" cy="30175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8" name="Image 4" descr="icons/coins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205740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71232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7571232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5–20 bps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7571232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flows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7571232" y="382219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rails for premiums, rents, repayments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619488" y="1828800"/>
            <a:ext cx="2084832" cy="3017520"/>
          </a:xfrm>
          <a:prstGeom prst="roundRect">
            <a:avLst>
              <a:gd name="adj" fmla="val 3070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34" name="Image 5" descr="icons/chart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2057400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838944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LICENSING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9838944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838944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API subscription</a:t>
            </a:r>
            <a:endParaRPr lang="en-US" sz="950" dirty="0"/>
          </a:p>
        </p:txBody>
      </p:sp>
      <p:sp>
        <p:nvSpPr>
          <p:cNvPr id="38" name="Text 30"/>
          <p:cNvSpPr txBox="1"/>
          <p:nvPr/>
        </p:nvSpPr>
        <p:spPr>
          <a:xfrm>
            <a:off x="9838944" y="382219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 + reference curves; the Moody's layer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48640" y="5120640"/>
            <a:ext cx="11091672" cy="1234440"/>
          </a:xfrm>
          <a:prstGeom prst="roundRect">
            <a:avLst>
              <a:gd name="adj" fmla="val 5185"/>
            </a:avLst>
          </a:prstGeom>
          <a:solidFill>
            <a:srgbClr val="0A1428"/>
          </a:solidFill>
          <a:ln w="9525">
            <a:solidFill>
              <a:srgbClr val="0A1428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6868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North-star economics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868680" y="5623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 =  Machine Asset Value under network  ×  products per machine  ×  retention of verified history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15</a:t>
            </a:r>
            <a:endParaRPr lang="en-US" sz="850" dirty="0"/>
          </a:p>
        </p:txBody>
      </p:sp>
      <p:sp>
        <p:nvSpPr>
          <p:cNvPr id="43" name="Text 35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— DATA MOAT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gets cheaper as it gets smarter.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+ telemetry create a longitudinal, outcome-linked dataset incumbents do not have and new entrants cannot instantly copy.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733182" y="2756916"/>
            <a:ext cx="521066" cy="224028"/>
          </a:xfrm>
          <a:prstGeom prst="line">
            <a:avLst/>
          </a:prstGeom>
          <a:noFill/>
          <a:ln w="19050">
            <a:solidFill>
              <a:srgbClr val="3D5A8F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924190" y="3845052"/>
            <a:ext cx="0" cy="448056"/>
          </a:xfrm>
          <a:prstGeom prst="line">
            <a:avLst/>
          </a:prstGeom>
          <a:noFill/>
          <a:ln w="19050">
            <a:solidFill>
              <a:srgbClr val="3D5A8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254248" y="5157216"/>
            <a:ext cx="-521066" cy="224028"/>
          </a:xfrm>
          <a:prstGeom prst="line">
            <a:avLst/>
          </a:prstGeom>
          <a:noFill/>
          <a:ln w="19050">
            <a:solidFill>
              <a:srgbClr val="3D5A8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393298" y="5381244"/>
            <a:ext cx="-521066" cy="-224028"/>
          </a:xfrm>
          <a:prstGeom prst="line">
            <a:avLst/>
          </a:prstGeom>
          <a:noFill/>
          <a:ln w="19050">
            <a:solidFill>
              <a:srgbClr val="3D5A8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202290" y="4293108"/>
            <a:ext cx="0" cy="-448056"/>
          </a:xfrm>
          <a:prstGeom prst="line">
            <a:avLst/>
          </a:prstGeom>
          <a:noFill/>
          <a:ln w="19050">
            <a:solidFill>
              <a:srgbClr val="3D5A8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872232" y="2980944"/>
            <a:ext cx="521066" cy="-224028"/>
          </a:xfrm>
          <a:prstGeom prst="line">
            <a:avLst/>
          </a:prstGeom>
          <a:noFill/>
          <a:ln w="19050">
            <a:solidFill>
              <a:srgbClr val="3D5A8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94560" y="2084832"/>
            <a:ext cx="1737360" cy="768096"/>
          </a:xfrm>
          <a:prstGeom prst="ellipse">
            <a:avLst/>
          </a:prstGeom>
          <a:solidFill>
            <a:srgbClr val="0E1830"/>
          </a:solidFill>
          <a:ln w="22225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94560" y="21854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055510" y="2884932"/>
            <a:ext cx="1737360" cy="768096"/>
          </a:xfrm>
          <a:prstGeom prst="ellipse">
            <a:avLst/>
          </a:prstGeom>
          <a:solidFill>
            <a:srgbClr val="0E1830"/>
          </a:solidFill>
          <a:ln w="22225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55510" y="29855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055510" y="4485132"/>
            <a:ext cx="1737360" cy="768096"/>
          </a:xfrm>
          <a:prstGeom prst="ellipse">
            <a:avLst/>
          </a:prstGeom>
          <a:solidFill>
            <a:srgbClr val="0E1830"/>
          </a:solidFill>
          <a:ln w="22225">
            <a:solidFill>
              <a:srgbClr val="A3E63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55510" y="45857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194560" y="5285232"/>
            <a:ext cx="1737360" cy="768096"/>
          </a:xfrm>
          <a:prstGeom prst="ellipse">
            <a:avLst/>
          </a:prstGeom>
          <a:solidFill>
            <a:srgbClr val="0E1830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94560" y="53858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3610" y="4485132"/>
            <a:ext cx="1737360" cy="768096"/>
          </a:xfrm>
          <a:prstGeom prst="ellipse">
            <a:avLst/>
          </a:prstGeom>
          <a:solidFill>
            <a:srgbClr val="0E1830"/>
          </a:solidFill>
          <a:ln w="22225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610" y="45857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CAPITAL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3610" y="2884932"/>
            <a:ext cx="1737360" cy="768096"/>
          </a:xfrm>
          <a:prstGeom prst="ellipse">
            <a:avLst/>
          </a:prstGeom>
          <a:solidFill>
            <a:srgbClr val="0E1830"/>
          </a:solidFill>
          <a:ln w="22225">
            <a:solidFill>
              <a:srgbClr val="F8717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3610" y="29855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05740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FLYWHEEL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83680" y="178308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0" y="2011680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0A1428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21122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D8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COMPOUNDS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26700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5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Cross-OEM failure curves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9509760" y="2688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replicate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32004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5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72694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Claims-linked telemetry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9509760" y="3218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proprietary labels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37307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5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7269480" y="3730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region benchmarks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950976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breadth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42611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5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42611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+ residual history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9509760" y="4279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time moat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903720" y="479145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5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7269480" y="47914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feedback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9509760" y="4809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improves from outcomes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858000" y="55321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≠ blockchain. The moat is the outcome-linked dataset; the chain makes it portable and composable.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16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— MARKET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the financial take-rate on machine assets.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size "robot insurance" — it is one pool of fees inside the machine balance sheet: credit, leasing, payments, servicing, markets.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1480" y="1920240"/>
            <a:ext cx="5577840" cy="4297680"/>
          </a:xfrm>
          <a:prstGeom prst="ellipse">
            <a:avLst/>
          </a:prstGeom>
          <a:solidFill>
            <a:srgbClr val="0E1830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377440"/>
            <a:ext cx="4480560" cy="3383280"/>
          </a:xfrm>
          <a:prstGeom prst="ellipse">
            <a:avLst/>
          </a:prstGeom>
          <a:solidFill>
            <a:srgbClr val="0E1830"/>
          </a:solidFill>
          <a:ln w="22225">
            <a:solidFill>
              <a:srgbClr val="38BD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08760" y="2834640"/>
            <a:ext cx="3383280" cy="2468880"/>
          </a:xfrm>
          <a:prstGeom prst="ellipse">
            <a:avLst/>
          </a:prstGeom>
          <a:solidFill>
            <a:srgbClr val="0E1830"/>
          </a:solidFill>
          <a:ln w="22225">
            <a:solidFill>
              <a:srgbClr val="34D3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03120" y="3337560"/>
            <a:ext cx="2194560" cy="1463040"/>
          </a:xfrm>
          <a:prstGeom prst="ellipse">
            <a:avLst/>
          </a:prstGeom>
          <a:solidFill>
            <a:srgbClr val="0E1830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ECONOMY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871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CAPITAL MARKETS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80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+ LEASING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9136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(WEDGE)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178308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2011680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0A1428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21122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D8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2030 COMPANY SCENARIO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commercial machines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679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8.0M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financeable asset value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3227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Asset Value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549640" y="3776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$320B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GWP @ 2.5%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549640" y="4325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$8B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4892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Financeable pool @ 40%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4873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$128B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5440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category ceiling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549640" y="5422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$5T humanoid ecosystem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anchors: IFR installed-base data; Morgan Stanley 2050 humanoid-ecosystem estimate. 2030 scenario is illustrative company modeling, not a third-party forecast.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17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— VENTURE CASE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asset base first; monetization density follows.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connected machine adds products over time: data → insurance → credit → markets. Illustrative five-year venture case.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revenue ($M)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68680" y="5094142"/>
            <a:ext cx="658368" cy="163658"/>
          </a:xfrm>
          <a:prstGeom prst="roundRect">
            <a:avLst>
              <a:gd name="adj" fmla="val 22349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78324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20240" y="4824802"/>
            <a:ext cx="658368" cy="432998"/>
          </a:xfrm>
          <a:prstGeom prst="roundRect">
            <a:avLst>
              <a:gd name="adj" fmla="val 844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91640" y="451390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71800" y="4361408"/>
            <a:ext cx="658368" cy="896392"/>
          </a:xfrm>
          <a:prstGeom prst="roundRect">
            <a:avLst>
              <a:gd name="adj" fmla="val 555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405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$30M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023360" y="3621220"/>
            <a:ext cx="658368" cy="1636580"/>
          </a:xfrm>
          <a:prstGeom prst="roundRect">
            <a:avLst>
              <a:gd name="adj" fmla="val 555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94760" y="33103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74920" y="2423160"/>
            <a:ext cx="658368" cy="2834640"/>
          </a:xfrm>
          <a:prstGeom prst="roundRect">
            <a:avLst>
              <a:gd name="adj" fmla="val 5556"/>
            </a:avLst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2112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$300M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Y5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623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heights √-scaled for visibility.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126480" y="178308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111B33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1993392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0A14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20939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OPERATING SCALE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2651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2651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9006840" y="2651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646920" y="2651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332720" y="2651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1018520" y="2651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robots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30175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30175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75K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509760" y="30175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300K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0195560" y="30175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0881360" y="30175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400800" y="3584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value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8229600" y="35844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$0.3B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869680" y="35844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9509760" y="35844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10195560" y="35844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$35B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10881360" y="35844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$100B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400800" y="4151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routed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8229600" y="415137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8869680" y="415137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$60M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9509760" y="415137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$250M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10195560" y="415137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$0.9B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10881360" y="415137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400800" y="4718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originated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8229600" y="471830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$25M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8869680" y="471830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$0.2B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9509760" y="471830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0195560" y="471830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10881360" y="471830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6400800" y="5257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venture-case scenario — not guidance or forecast.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48640" y="60350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11B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48640" y="61173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RURM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1417320" y="6089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Under Risk Management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3392424" y="60350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11B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392424" y="61173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4261104" y="6089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Asset Value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236208" y="60350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11B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236208" y="61173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V-MH</a:t>
            </a:r>
            <a:endParaRPr lang="en-US" sz="900" dirty="0"/>
          </a:p>
        </p:txBody>
      </p:sp>
      <p:sp>
        <p:nvSpPr>
          <p:cNvPr id="65" name="Text 62"/>
          <p:cNvSpPr txBox="1"/>
          <p:nvPr/>
        </p:nvSpPr>
        <p:spPr>
          <a:xfrm>
            <a:off x="7104888" y="6089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Machine Hours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9079992" y="60350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11B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079992" y="61173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CCM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9948672" y="6089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Machine Capital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18</a:t>
            </a:r>
            <a:endParaRPr lang="en-US" sz="850" dirty="0"/>
          </a:p>
        </p:txBody>
      </p:sp>
      <p:sp>
        <p:nvSpPr>
          <p:cNvPr id="70" name="Text 67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— FOUNDER-MARKET FIT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pricing financial assets to pricing machines.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sits at the exact intersection of quantitative risk, RWA infrastructure and machine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60904" cy="2834640"/>
          </a:xfrm>
          <a:prstGeom prst="roundRect">
            <a:avLst>
              <a:gd name="adj" fmla="val 2405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0" name="Image 1" descr="icons/char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8483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04672" y="2670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STREET QUANT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04672" y="320040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at Point72 — pricing systems, market data pipelines, risk models under real capital.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182112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392424" y="1828800"/>
            <a:ext cx="2660904" cy="2834640"/>
          </a:xfrm>
          <a:prstGeom prst="roundRect">
            <a:avLst>
              <a:gd name="adj" fmla="val 2405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5" name="Image 2" descr="icons/cpu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08483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48456" y="2670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CSE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648456" y="320040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science &amp; engineering — the modeling stack behind survival and loss models.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025896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36208" y="1828800"/>
            <a:ext cx="2660904" cy="2834640"/>
          </a:xfrm>
          <a:prstGeom prst="roundRect">
            <a:avLst>
              <a:gd name="adj" fmla="val 2405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0" name="Image 3" descr="icons/lin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8483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92240" y="2670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CATEGORY CEO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320040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and led BlockStreet — liquidity, collateral and compliance for on-chain assets.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8869680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9079992" y="1828800"/>
            <a:ext cx="2660904" cy="2834640"/>
          </a:xfrm>
          <a:prstGeom prst="roundRect">
            <a:avLst>
              <a:gd name="adj" fmla="val 2405"/>
            </a:avLst>
          </a:prstGeom>
          <a:solidFill>
            <a:srgbClr val="EAF0FB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5" name="Image 4" descr="icons/bot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2084832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36024" y="2670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336024" y="320040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synthesis: apply capital-markets discipline to the newest asset class — machines.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0A1428"/>
          </a:solidFill>
          <a:ln w="9525">
            <a:solidFill>
              <a:srgbClr val="0A1428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68680" y="5321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BlockStreet moved existing financial assets on-chain. Calibrum creates the financial standard for assets that never had one.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19</a:t>
            </a:r>
            <a:endParaRPr lang="en-US" sz="850" dirty="0"/>
          </a:p>
        </p:txBody>
      </p:sp>
      <p:sp>
        <p:nvSpPr>
          <p:cNvPr id="31" name="Text 24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pic>
        <p:nvPicPr>
          <p:cNvPr id="3" name="Image 1" descr="ill_humano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77240"/>
            <a:ext cx="3611880" cy="51297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ENDGAME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58368" y="173736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the cost of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capital.</a:t>
            </a:r>
            <a:endParaRPr lang="en-US" sz="5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40690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machines have verifiable identity, reputation and credit, they stop being expensive equipment — and become financeable economic actors.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685800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5230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21992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21992" y="5230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758184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758184" y="5230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294376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294376" y="5230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30568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32648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30568" y="5230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衡准  •  The financial standard for machines  •  Insurance is the wedge. Machine capital markets are the destination.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r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4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6364" y="310896"/>
            <a:ext cx="32004" cy="146304"/>
          </a:xfrm>
          <a:prstGeom prst="rect">
            <a:avLst/>
          </a:prstGeom>
          <a:solidFill>
            <a:srgbClr val="6D5EF0"/>
          </a:solidFill>
          <a:ln w="12700">
            <a:solidFill>
              <a:srgbClr val="6D5E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088" y="338328"/>
            <a:ext cx="32004" cy="91440"/>
          </a:xfrm>
          <a:prstGeom prst="rect">
            <a:avLst/>
          </a:prstGeom>
          <a:solidFill>
            <a:srgbClr val="9AA8C4"/>
          </a:solidFill>
          <a:ln w="12700">
            <a:solidFill>
              <a:srgbClr val="9AA8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9260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THE ORACLE PROBLEM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Proof of Operation can't be cheaply gamed.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338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objection first: a signed sensor reading only proves the sensor said X — not that X happened. Signed garbage is still garbage.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DF0EC"/>
          </a:solidFill>
          <a:ln w="9525">
            <a:solidFill>
              <a:srgbClr val="DDE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193852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cautionary tale: 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registries launched in 2026 filled with shells — only 3–15% of registrations had working endpoints, and 60–90% of reputation reviewers showed sybil behavior. Registration is cheap; performance is expensive. Any trust network is flooded by the cheap side first.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3602736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2" name="Image 1" descr="icons/activity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90672"/>
            <a:ext cx="420624" cy="4206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4672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PHYSICS CROSS-CHECKS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04672" y="397764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draw vs claimed workload, vibration spectra vs claimed task, fleet-level statistical anomaly detection. Faking one record is cheap; faking a physically consistent multi-sensor history is expensive.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34256" y="2834640"/>
            <a:ext cx="3602736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6" name="Image 2" descr="icons/scal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3090672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90288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ECONOMIC ADVERSARIES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590288" y="397764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and loan defaults are built-in adversarial audits. A machine with an inflated history eventually surfaces at the claim or the default — and both outcome streams live in our graph, feeding back into the score.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119872" y="2834640"/>
            <a:ext cx="3602736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20" name="Image 3" descr="icons/loc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090672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75904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STAKE AND SLASH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8375904" y="397764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OEMs, servicers and validators stake to attest. Fraudulent attestations are slashed. Cheap claims must become expensive to fake — the only role the token plays, and the only one it needs.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layer is sufficient. Together they make an honest history the cheapest history to have.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10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Calibrum · 衡准  •  Appendix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7955280" y="6510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DRAFT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2026-09-03T07:45:05Z</dcterms:created>
  <dcterms:modified xsi:type="dcterms:W3CDTF">2026-09-03T07:45:05Z</dcterms:modified>
</cp:coreProperties>
</file>